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Tweet Volume by Month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Tweets</c:v>
                </c:pt>
              </c:strCache>
            </c:strRef>
          </c:tx>
          <c:spPr>
            <a:solidFill>
              <a:srgbClr val="1DA1F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June</c:v>
                  </c:pt>
                  <c:pt idx="1">
                    <c:v>July</c:v>
                  </c:pt>
                  <c:pt idx="2">
                    <c:v>August</c:v>
                  </c:pt>
                  <c:pt idx="3">
                    <c:v>September</c:v>
                  </c:pt>
                  <c:pt idx="4">
                    <c:v>October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223</c:v>
                </c:pt>
                <c:pt idx="1">
                  <c:v>312</c:v>
                </c:pt>
                <c:pt idx="2">
                  <c:v>218</c:v>
                </c:pt>
                <c:pt idx="3">
                  <c:v>232</c:v>
                </c:pt>
                <c:pt idx="4">
                  <c:v>181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577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577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Avg Impressions by Month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Impressions</c:v>
                </c:pt>
              </c:strCache>
            </c:strRef>
          </c:tx>
          <c:spPr>
            <a:solidFill>
              <a:srgbClr val="0D8EC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June</c:v>
                  </c:pt>
                  <c:pt idx="1">
                    <c:v>July</c:v>
                  </c:pt>
                  <c:pt idx="2">
                    <c:v>August</c:v>
                  </c:pt>
                  <c:pt idx="3">
                    <c:v>September</c:v>
                  </c:pt>
                  <c:pt idx="4">
                    <c:v>October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595</c:v>
                </c:pt>
                <c:pt idx="1">
                  <c:v>1134</c:v>
                </c:pt>
                <c:pt idx="2">
                  <c:v>685</c:v>
                </c:pt>
                <c:pt idx="3">
                  <c:v>756</c:v>
                </c:pt>
                <c:pt idx="4">
                  <c:v>555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577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577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Tweets by Day of Week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Tweets</c:v>
                </c:pt>
              </c:strCache>
            </c:strRef>
          </c:tx>
          <c:spPr>
            <a:solidFill>
              <a:srgbClr val="1DA1F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Tuesday</c:v>
                  </c:pt>
                  <c:pt idx="1">
                    <c:v>Thursday</c:v>
                  </c:pt>
                  <c:pt idx="2">
                    <c:v>Wednesday</c:v>
                  </c:pt>
                  <c:pt idx="3">
                    <c:v>Monday</c:v>
                  </c:pt>
                  <c:pt idx="4">
                    <c:v>Friday</c:v>
                  </c:pt>
                  <c:pt idx="5">
                    <c:v>Sunday</c:v>
                  </c:pt>
                  <c:pt idx="6">
                    <c:v>Saturday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239</c:v>
                </c:pt>
                <c:pt idx="1">
                  <c:v>230</c:v>
                </c:pt>
                <c:pt idx="2">
                  <c:v>215</c:v>
                </c:pt>
                <c:pt idx="3">
                  <c:v>187</c:v>
                </c:pt>
                <c:pt idx="4">
                  <c:v>165</c:v>
                </c:pt>
                <c:pt idx="5">
                  <c:v>80</c:v>
                </c:pt>
                <c:pt idx="6">
                  <c:v>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577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Tweets by Hour of Day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Tweets</c:v>
                </c:pt>
              </c:strCache>
            </c:strRef>
          </c:tx>
          <c:spPr>
            <a:solidFill>
              <a:srgbClr val="0D8EC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Sheet1!$A$2:$A$22</c:f>
              <c:multiLvlStrCache>
                <c:ptCount val="21"/>
                <c:lvl>
                  <c:pt idx="0">
                    <c:v>12 AM</c:v>
                  </c:pt>
                  <c:pt idx="1">
                    <c:v>1 AM</c:v>
                  </c:pt>
                  <c:pt idx="2">
                    <c:v>2 AM</c:v>
                  </c:pt>
                  <c:pt idx="3">
                    <c:v>3 AM</c:v>
                  </c:pt>
                  <c:pt idx="4">
                    <c:v>4 AM</c:v>
                  </c:pt>
                  <c:pt idx="5">
                    <c:v>8 AM</c:v>
                  </c:pt>
                  <c:pt idx="6">
                    <c:v>9 AM</c:v>
                  </c:pt>
                  <c:pt idx="7">
                    <c:v>10 AM</c:v>
                  </c:pt>
                  <c:pt idx="8">
                    <c:v>11 AM</c:v>
                  </c:pt>
                  <c:pt idx="9">
                    <c:v>12 PM</c:v>
                  </c:pt>
                  <c:pt idx="10">
                    <c:v>1 PM</c:v>
                  </c:pt>
                  <c:pt idx="11">
                    <c:v>2 PM</c:v>
                  </c:pt>
                  <c:pt idx="12">
                    <c:v>3 PM</c:v>
                  </c:pt>
                  <c:pt idx="13">
                    <c:v>4 PM</c:v>
                  </c:pt>
                  <c:pt idx="14">
                    <c:v>5 PM</c:v>
                  </c:pt>
                  <c:pt idx="15">
                    <c:v>6 PM</c:v>
                  </c:pt>
                  <c:pt idx="16">
                    <c:v>7 PM</c:v>
                  </c:pt>
                  <c:pt idx="17">
                    <c:v>8 PM</c:v>
                  </c:pt>
                  <c:pt idx="18">
                    <c:v>9 PM</c:v>
                  </c:pt>
                  <c:pt idx="19">
                    <c:v>10 PM</c:v>
                  </c:pt>
                  <c:pt idx="20">
                    <c:v>11 PM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54</c:v>
                </c:pt>
                <c:pt idx="1">
                  <c:v>50</c:v>
                </c:pt>
                <c:pt idx="2">
                  <c:v>33</c:v>
                </c:pt>
                <c:pt idx="3">
                  <c:v>19</c:v>
                </c:pt>
                <c:pt idx="4">
                  <c:v>6</c:v>
                </c:pt>
                <c:pt idx="5">
                  <c:v>6</c:v>
                </c:pt>
                <c:pt idx="6">
                  <c:v>11</c:v>
                </c:pt>
                <c:pt idx="7">
                  <c:v>25</c:v>
                </c:pt>
                <c:pt idx="8">
                  <c:v>40</c:v>
                </c:pt>
                <c:pt idx="9">
                  <c:v>78</c:v>
                </c:pt>
                <c:pt idx="10">
                  <c:v>95</c:v>
                </c:pt>
                <c:pt idx="11">
                  <c:v>89</c:v>
                </c:pt>
                <c:pt idx="12">
                  <c:v>93</c:v>
                </c:pt>
                <c:pt idx="13">
                  <c:v>88</c:v>
                </c:pt>
                <c:pt idx="14">
                  <c:v>120</c:v>
                </c:pt>
                <c:pt idx="15">
                  <c:v>96</c:v>
                </c:pt>
                <c:pt idx="16">
                  <c:v>82</c:v>
                </c:pt>
                <c:pt idx="17">
                  <c:v>54</c:v>
                </c:pt>
                <c:pt idx="18">
                  <c:v>39</c:v>
                </c:pt>
                <c:pt idx="19">
                  <c:v>47</c:v>
                </c:pt>
                <c:pt idx="20">
                  <c:v>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577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Engagements</c:v>
                </c:pt>
              </c:strCache>
            </c:strRef>
          </c:tx>
          <c:spPr>
            <a:solidFill>
              <a:srgbClr val="1DA1F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#10 semper porta...</c:v>
                  </c:pt>
                  <c:pt idx="1">
                    <c:v>#9 arcu sed augue...</c:v>
                  </c:pt>
                  <c:pt idx="2">
                    <c:v>#8 nam dui proin...</c:v>
                  </c:pt>
                  <c:pt idx="3">
                    <c:v>#7 morbi sem...</c:v>
                  </c:pt>
                  <c:pt idx="4">
                    <c:v>#6 nulla neque...</c:v>
                  </c:pt>
                  <c:pt idx="5">
                    <c:v>#5 lectus aliquam...</c:v>
                  </c:pt>
                  <c:pt idx="6">
                    <c:v>#4 augue quam...</c:v>
                  </c:pt>
                  <c:pt idx="7">
                    <c:v>#3 justo in hac...</c:v>
                  </c:pt>
                  <c:pt idx="8">
                    <c:v>#2 sit amet lobortis...</c:v>
                  </c:pt>
                  <c:pt idx="9">
                    <c:v>#1 elementum ligula...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486</c:v>
                </c:pt>
                <c:pt idx="1">
                  <c:v>533</c:v>
                </c:pt>
                <c:pt idx="2">
                  <c:v>919</c:v>
                </c:pt>
                <c:pt idx="3">
                  <c:v>924</c:v>
                </c:pt>
                <c:pt idx="4">
                  <c:v>1065</c:v>
                </c:pt>
                <c:pt idx="5">
                  <c:v>1118</c:v>
                </c:pt>
                <c:pt idx="6">
                  <c:v>1191</c:v>
                </c:pt>
                <c:pt idx="7">
                  <c:v>1553</c:v>
                </c:pt>
                <c:pt idx="8">
                  <c:v>2274</c:v>
                </c:pt>
                <c:pt idx="9">
                  <c:v>54098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577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5F8F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Avg Media Engagements by Month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Media Engagements</c:v>
                </c:pt>
              </c:strCache>
            </c:strRef>
          </c:tx>
          <c:spPr>
            <a:solidFill>
              <a:srgbClr val="1DA1F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June</c:v>
                  </c:pt>
                  <c:pt idx="1">
                    <c:v>July</c:v>
                  </c:pt>
                  <c:pt idx="2">
                    <c:v>August</c:v>
                  </c:pt>
                  <c:pt idx="3">
                    <c:v>September</c:v>
                  </c:pt>
                  <c:pt idx="4">
                    <c:v>October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</c:v>
                </c:pt>
                <c:pt idx="1">
                  <c:v>163</c:v>
                </c:pt>
                <c:pt idx="2">
                  <c:v>16</c:v>
                </c:pt>
                <c:pt idx="3">
                  <c:v>7</c:v>
                </c:pt>
                <c:pt idx="4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577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Avg Engagement Rate % by Month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Engagement Rate %</c:v>
                </c:pt>
              </c:strCache>
            </c:strRef>
          </c:tx>
          <c:spPr>
            <a:solidFill>
              <a:srgbClr val="0D8EC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June</c:v>
                  </c:pt>
                  <c:pt idx="1">
                    <c:v>July</c:v>
                  </c:pt>
                  <c:pt idx="2">
                    <c:v>August</c:v>
                  </c:pt>
                  <c:pt idx="3">
                    <c:v>September</c:v>
                  </c:pt>
                  <c:pt idx="4">
                    <c:v>October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4</c:v>
                </c:pt>
                <c:pt idx="2">
                  <c:v>3</c:v>
                </c:pt>
                <c:pt idx="3">
                  <c:v>4</c:v>
                </c:pt>
                <c:pt idx="4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577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0"/>
          </a:xfrm>
          <a:prstGeom prst="rect">
            <a:avLst/>
          </a:prstGeom>
          <a:solidFill>
            <a:srgbClr val="1417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A1F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🐦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828800" y="5486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DA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Twitter Analytics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828800" y="137160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828800" y="21945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5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Tweet Performance, Engagement &amp; Media Analysis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310896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1A3A5C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3200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A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1,166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74320" y="3611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5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Tweets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310896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3200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A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468880" y="3611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5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Impressions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310896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1A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3200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A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3.64%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63440" y="3611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5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Eng. Rate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0" y="310896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1A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3200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A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58000" y="3611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5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Media Eng.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5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– October 2020  |  1,166 Tweets  |  21 Features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DA1F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502920" cy="475488"/>
          </a:xfrm>
          <a:prstGeom prst="rect">
            <a:avLst/>
          </a:prstGeom>
          <a:solidFill>
            <a:srgbClr val="1DA1F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59536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822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07899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1,166 tweets, 5 months, 21 features explained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536192"/>
            <a:ext cx="502920" cy="475488"/>
          </a:xfrm>
          <a:prstGeom prst="rect">
            <a:avLst/>
          </a:prstGeom>
          <a:solidFill>
            <a:srgbClr val="1DA1F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572768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51560" y="15361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Posting Patterns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179222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days, peak hours, volume trends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249424"/>
            <a:ext cx="502920" cy="475488"/>
          </a:xfrm>
          <a:prstGeom prst="rect">
            <a:avLst/>
          </a:prstGeom>
          <a:solidFill>
            <a:srgbClr val="1DA1F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2286000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51560" y="224942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Analysis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2505456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tweets, engagement rate, impression trends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962656"/>
            <a:ext cx="502920" cy="475488"/>
          </a:xfrm>
          <a:prstGeom prst="rect">
            <a:avLst/>
          </a:prstGeom>
          <a:solidFill>
            <a:srgbClr val="1DA1F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2999232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51560" y="296265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Performance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321868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views vs engagements month-over-month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675888"/>
            <a:ext cx="502920" cy="475488"/>
          </a:xfrm>
          <a:prstGeom prst="rect">
            <a:avLst/>
          </a:prstGeom>
          <a:solidFill>
            <a:srgbClr val="1DA1F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3712464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51560" y="36758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393192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data-driven conclusions from the analysis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389120"/>
            <a:ext cx="502920" cy="475488"/>
          </a:xfrm>
          <a:prstGeom prst="rect">
            <a:avLst/>
          </a:prstGeom>
          <a:solidFill>
            <a:srgbClr val="1DA1F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5760" y="4425696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51560" y="4389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51560" y="464515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strategies to grow reach &amp; engagement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DA1F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Overview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31520"/>
          <a:ext cx="42062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663440" y="731520"/>
          <a:ext cx="42062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365760" y="41148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5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was the strongest month: highest volume (312 tweets) and highest impressions (1,134 avg).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Posting Patterns — When to Tweet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31520"/>
          <a:ext cx="42062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663440" y="731520"/>
          <a:ext cx="42062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DA1F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Tweets by Engagements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3200400" cy="1645920"/>
          </a:xfrm>
          <a:prstGeom prst="roundRect">
            <a:avLst>
              <a:gd name="adj" fmla="val 4444"/>
            </a:avLst>
          </a:prstGeom>
          <a:solidFill>
            <a:srgbClr val="1DA1F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229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54,098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74320" y="16916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3E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tweet engagements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3E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78x above average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0" y="731520"/>
          <a:ext cx="521208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Performance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31520"/>
          <a:ext cx="42062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663440" y="731520"/>
          <a:ext cx="42062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365760" y="41148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5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media engagement (163) is 10x higher than any other month — a clear outlier campaign.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DA1F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 Best Days: Tue &amp; Thu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29844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239 and 230 tweets — peak posting and audience activity mid-week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82296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  Peak Hour: 5 PM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83480" y="129844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tweets at 5 PM — optimal window for scheduling content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331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Viral Tweet: 54K Eng.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271576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tweet hit 54,098 engagements — 78x the dataset average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224028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83480" y="2331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📹  July Media Spike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271576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163 avg media engagements in July — 10x higher than other months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65760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3749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📉  October Decline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13308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impressions (555 avg) and fewest tweets (181) in October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365760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83480" y="3749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Stable Eng. Rate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83480" y="413308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3–4% engagement rate consistent across all months — reliable baseline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A1F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42416"/>
            <a:ext cx="457200" cy="457200"/>
          </a:xfrm>
          <a:prstGeom prst="ellipse">
            <a:avLst/>
          </a:prstGeom>
          <a:solidFill>
            <a:srgbClr val="1DA1F2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60704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10058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A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on Tue &amp; Thu, 1–6 PM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35331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 schedule with highest-volume days and peak audience hours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883664"/>
            <a:ext cx="457200" cy="457200"/>
          </a:xfrm>
          <a:prstGeom prst="ellipse">
            <a:avLst/>
          </a:prstGeom>
          <a:solidFill>
            <a:srgbClr val="1DA1F2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90195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184708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A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the viral tweet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19456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Deconstruct the 54K-engagement tweet to find replicable content signals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724912"/>
            <a:ext cx="457200" cy="457200"/>
          </a:xfrm>
          <a:prstGeom prst="ellipse">
            <a:avLst/>
          </a:prstGeom>
          <a:solidFill>
            <a:srgbClr val="1DA1F2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2743200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2688336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A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 in media content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03580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July's 10x media spike shows that visual content dramatically lifts engagement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566160"/>
            <a:ext cx="457200" cy="457200"/>
          </a:xfrm>
          <a:prstGeom prst="ellipse">
            <a:avLst/>
          </a:prstGeom>
          <a:solidFill>
            <a:srgbClr val="1DA1F2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358444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0120" y="352958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A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 October's decline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387705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whether the drop is seasonal, algorithmic, or content-driven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4407408"/>
            <a:ext cx="457200" cy="457200"/>
          </a:xfrm>
          <a:prstGeom prst="ellipse">
            <a:avLst/>
          </a:prstGeom>
          <a:solidFill>
            <a:srgbClr val="1DA1F2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4425696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60120" y="437083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A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monthly scorecard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4718304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impressions, engagement rate, and media metrics against these baselines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371600" y="5120640"/>
            <a:ext cx="6400800" cy="4114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5" name="Text 23"/>
          <p:cNvSpPr/>
          <p:nvPr/>
        </p:nvSpPr>
        <p:spPr>
          <a:xfrm>
            <a:off x="1371600" y="513892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57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Twitter Analytics Project  |  June–October 2020  |  Data-Driven Social Strategy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Twitter Analytics Dashboard</dc:title>
  <dc:subject>PptxGenJS Presentation</dc:subject>
  <dc:creator>PptxGenJS</dc:creator>
  <cp:lastModifiedBy>PptxGenJS</cp:lastModifiedBy>
  <cp:revision>1</cp:revision>
  <dcterms:created xsi:type="dcterms:W3CDTF">2026-05-25T02:08:48Z</dcterms:created>
  <dcterms:modified xsi:type="dcterms:W3CDTF">2026-05-25T02:08:48Z</dcterms:modified>
</cp:coreProperties>
</file>